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延迟(ms)</c:v>
                </c:pt>
              </c:strCache>
            </c:strRef>
          </c:tx>
          <c:spPr>
            <a:solidFill>
              <a:srgbClr val="4E9F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P50</c:v>
                  </c:pt>
                  <c:pt idx="1">
                    <c:v>P95</c:v>
                  </c:pt>
                  <c:pt idx="2">
                    <c:v>P99</c:v>
                  </c:pt>
                  <c:pt idx="3">
                    <c:v>平均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186</c:v>
                </c:pt>
                <c:pt idx="2">
                  <c:v>242</c:v>
                </c:pt>
                <c:pt idx="3">
                  <c:v>156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指标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延迟 (ms)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5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920800"/>
            <a:ext cx="1523405" cy="352425"/>
          </a:xfrm>
          <a:prstGeom prst="roundRect">
            <a:avLst>
              <a:gd name="adj" fmla="val 7207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38051" y="997000"/>
            <a:ext cx="11394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本科毕业设计答辩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34901" y="1527125"/>
            <a:ext cx="803168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球类比赛成绩统计与显示管理系统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34901" y="2174825"/>
            <a:ext cx="803168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0"/>
              </a:spcAft>
              <a:buNone/>
            </a:pPr>
            <a:r>
              <a:rPr lang="en-US" sz="16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Ball-Game Result Statistics Management System (BRSMS)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4901" y="2920901"/>
            <a:ext cx="80316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答辩人：赵庆  |  学号：202210176095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4901" y="3251002"/>
            <a:ext cx="80316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学院：通信工程学院  |  专业：人工智能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4901" y="3581102"/>
            <a:ext cx="80316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指导教师：陈金山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4901" y="4629150"/>
            <a:ext cx="80316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广州城市理工学院  ·  2026年5月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47551" y="355550"/>
            <a:ext cx="0" cy="428625"/>
          </a:xfrm>
          <a:prstGeom prst="line">
            <a:avLst/>
          </a:prstGeom>
          <a:noFill/>
          <a:ln w="76200">
            <a:solidFill>
              <a:srgbClr val="4E9F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3352" y="355550"/>
            <a:ext cx="792815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汇报提纲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9451" y="1012775"/>
            <a:ext cx="2752427" cy="793552"/>
          </a:xfrm>
          <a:prstGeom prst="roundRect">
            <a:avLst>
              <a:gd name="adj" fmla="val 960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33264" y="1012775"/>
            <a:ext cx="0" cy="793552"/>
          </a:xfrm>
          <a:prstGeom prst="line">
            <a:avLst/>
          </a:prstGeom>
          <a:noFill/>
          <a:ln w="47625">
            <a:solidFill>
              <a:srgbClr val="4E9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4777" y="1139726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26306" y="1195239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34777" y="1469827"/>
            <a:ext cx="23963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研究背景与意义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88829" y="1012775"/>
            <a:ext cx="2752427" cy="793552"/>
          </a:xfrm>
          <a:prstGeom prst="roundRect">
            <a:avLst>
              <a:gd name="adj" fmla="val 960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512641" y="1012775"/>
            <a:ext cx="0" cy="793552"/>
          </a:xfrm>
          <a:prstGeom prst="line">
            <a:avLst/>
          </a:prstGeom>
          <a:noFill/>
          <a:ln w="47625">
            <a:solidFill>
              <a:srgbClr val="4E9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14155" y="1139726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805684" y="1195239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14155" y="1469827"/>
            <a:ext cx="23963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国内外研究现状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9451" y="1933277"/>
            <a:ext cx="2752427" cy="793552"/>
          </a:xfrm>
          <a:prstGeom prst="roundRect">
            <a:avLst>
              <a:gd name="adj" fmla="val 960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33264" y="1933277"/>
            <a:ext cx="0" cy="793552"/>
          </a:xfrm>
          <a:prstGeom prst="line">
            <a:avLst/>
          </a:prstGeom>
          <a:noFill/>
          <a:ln w="47625">
            <a:solidFill>
              <a:srgbClr val="4E9F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4777" y="2060228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26306" y="2115741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4777" y="2390329"/>
            <a:ext cx="23963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研究目标与内容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88829" y="1933277"/>
            <a:ext cx="2752427" cy="793552"/>
          </a:xfrm>
          <a:prstGeom prst="roundRect">
            <a:avLst>
              <a:gd name="adj" fmla="val 960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512641" y="1933277"/>
            <a:ext cx="0" cy="793552"/>
          </a:xfrm>
          <a:prstGeom prst="line">
            <a:avLst/>
          </a:prstGeom>
          <a:noFill/>
          <a:ln w="47625">
            <a:solidFill>
              <a:srgbClr val="4E9F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14155" y="2060228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805684" y="2115741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14155" y="2390329"/>
            <a:ext cx="23963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系统总体设计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9451" y="2853779"/>
            <a:ext cx="2752427" cy="793552"/>
          </a:xfrm>
          <a:prstGeom prst="roundRect">
            <a:avLst>
              <a:gd name="adj" fmla="val 960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33264" y="2853779"/>
            <a:ext cx="0" cy="793552"/>
          </a:xfrm>
          <a:prstGeom prst="line">
            <a:avLst/>
          </a:prstGeom>
          <a:noFill/>
          <a:ln w="47625">
            <a:solidFill>
              <a:srgbClr val="4E9F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4777" y="2980730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926306" y="3036243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34777" y="3310830"/>
            <a:ext cx="23963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系统实现与演示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488829" y="2853779"/>
            <a:ext cx="2752427" cy="793552"/>
          </a:xfrm>
          <a:prstGeom prst="roundRect">
            <a:avLst>
              <a:gd name="adj" fmla="val 960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3512641" y="2853779"/>
            <a:ext cx="0" cy="793552"/>
          </a:xfrm>
          <a:prstGeom prst="line">
            <a:avLst/>
          </a:prstGeom>
          <a:noFill/>
          <a:ln w="47625">
            <a:solidFill>
              <a:srgbClr val="4E9F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14155" y="2980730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805684" y="3036243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714155" y="3310830"/>
            <a:ext cx="23963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实验结果与分析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09451" y="3774281"/>
            <a:ext cx="2752427" cy="793552"/>
          </a:xfrm>
          <a:prstGeom prst="roundRect">
            <a:avLst>
              <a:gd name="adj" fmla="val 960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633264" y="3774281"/>
            <a:ext cx="0" cy="793552"/>
          </a:xfrm>
          <a:prstGeom prst="line">
            <a:avLst/>
          </a:prstGeom>
          <a:noFill/>
          <a:ln w="47625">
            <a:solidFill>
              <a:srgbClr val="4E9F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4777" y="3901232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926306" y="3956745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34777" y="4231332"/>
            <a:ext cx="23963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创新点总结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488829" y="3774281"/>
            <a:ext cx="2752427" cy="793552"/>
          </a:xfrm>
          <a:prstGeom prst="roundRect">
            <a:avLst>
              <a:gd name="adj" fmla="val 960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3512641" y="3774281"/>
            <a:ext cx="0" cy="793552"/>
          </a:xfrm>
          <a:prstGeom prst="line">
            <a:avLst/>
          </a:prstGeom>
          <a:noFill/>
          <a:ln w="47625">
            <a:solidFill>
              <a:srgbClr val="4E9F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14155" y="3901232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3805684" y="3956745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714155" y="4231332"/>
            <a:ext cx="23963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不足与展望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47551" y="406301"/>
            <a:ext cx="0" cy="428625"/>
          </a:xfrm>
          <a:prstGeom prst="line">
            <a:avLst/>
          </a:prstGeom>
          <a:noFill/>
          <a:ln w="76200">
            <a:solidFill>
              <a:srgbClr val="4E9F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3352" y="406301"/>
            <a:ext cx="792815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研究背景与意义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9451" y="1088827"/>
            <a:ext cx="3886349" cy="1212652"/>
          </a:xfrm>
          <a:prstGeom prst="roundRect">
            <a:avLst>
              <a:gd name="adj" fmla="val 628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09451" y="1107877"/>
            <a:ext cx="3886349" cy="0"/>
          </a:xfrm>
          <a:prstGeom prst="line">
            <a:avLst/>
          </a:prstGeom>
          <a:noFill/>
          <a:ln w="38100">
            <a:solidFill>
              <a:srgbClr val="4E9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2602" y="1330077"/>
            <a:ext cx="354964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数字化转型趋势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602" y="1679228"/>
            <a:ext cx="354964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2024年全球体育科技市场规模约280亿美元，高校每年举办体育赛事超50万场，涵盖十余个球类项目。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451" y="2453878"/>
            <a:ext cx="3886349" cy="1212652"/>
          </a:xfrm>
          <a:prstGeom prst="roundRect">
            <a:avLst>
              <a:gd name="adj" fmla="val 628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09451" y="2472928"/>
            <a:ext cx="3886349" cy="0"/>
          </a:xfrm>
          <a:prstGeom prst="line">
            <a:avLst/>
          </a:prstGeom>
          <a:noFill/>
          <a:ln w="38100">
            <a:solidFill>
              <a:srgbClr val="4E9F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602" y="2695129"/>
            <a:ext cx="354964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传统方式痛点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602" y="3044279"/>
            <a:ext cx="354964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纸质记录、人工统计效率低、易出错，从得分到显示平均延迟30-120秒，实时性严重不足。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49701" y="1088827"/>
            <a:ext cx="3886349" cy="1625501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749701" y="1107877"/>
            <a:ext cx="3886349" cy="0"/>
          </a:xfrm>
          <a:prstGeom prst="line">
            <a:avLst/>
          </a:prstGeom>
          <a:noFill/>
          <a:ln w="38100">
            <a:solidFill>
              <a:srgbClr val="4E9F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52851" y="1330077"/>
            <a:ext cx="354964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三大技术挑战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52851" y="1730127"/>
            <a:ext cx="3480048" cy="62865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实时性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：毫秒级数据同步需求</a:t>
            </a:r>
            <a:endParaRPr lang="en-US" sz="1200" dirty="0"/>
          </a:p>
          <a:p>
            <a:pPr algn="l" marL="190500" indent="-190500"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多球类适配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：规则差异显著</a:t>
            </a:r>
            <a:endParaRPr lang="en-US" sz="1200" dirty="0"/>
          </a:p>
          <a:p>
            <a:pPr algn="l" marL="190500" indent="-190500"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多终端显示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：大屏/移动/Web统一推送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49701" y="2866727"/>
            <a:ext cx="3886349" cy="984052"/>
          </a:xfrm>
          <a:prstGeom prst="roundRect">
            <a:avLst>
              <a:gd name="adj" fmla="val 7743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52851" y="3044428"/>
            <a:ext cx="354964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研究意义：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设计低成本、跨球类、毫秒级、可扩展的通用赛事管理平台，填补高校及基层体育赛事数字化管理空白。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22102" y="381000"/>
            <a:ext cx="0" cy="428625"/>
          </a:xfrm>
          <a:prstGeom prst="line">
            <a:avLst/>
          </a:prstGeom>
          <a:noFill/>
          <a:ln w="76200">
            <a:solidFill>
              <a:srgbClr val="4E9F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7902" y="381000"/>
            <a:ext cx="79800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国内外研究现状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84002" y="1012775"/>
            <a:ext cx="3937099" cy="1009055"/>
          </a:xfrm>
          <a:prstGeom prst="roundRect">
            <a:avLst>
              <a:gd name="adj" fmla="val 755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1702" y="1190476"/>
            <a:ext cx="36533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国外：商业系统成熟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1702" y="1476226"/>
            <a:ext cx="3653332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STACT（NBA/英超）、Hawk-Eye（计算机视觉）、SportsCode 等，实时延迟≤100ms，但年授权费数千至数万美元。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4002" y="2148780"/>
            <a:ext cx="3937099" cy="1009055"/>
          </a:xfrm>
          <a:prstGeom prst="roundRect">
            <a:avLst>
              <a:gd name="adj" fmla="val 755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1702" y="2326481"/>
            <a:ext cx="36533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国内：逐步推进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1702" y="2612231"/>
            <a:ext cx="3653332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高东杯赛事系统（200+城市）、商汤篮球AI（CBA试点）、高校运动会管理系统等，但实时性与跨球类适配不足。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24251" y="1063526"/>
            <a:ext cx="3937248" cy="1446907"/>
          </a:xfrm>
          <a:prstGeom prst="roundRect">
            <a:avLst>
              <a:gd name="adj" fmla="val 5266"/>
            </a:avLst>
          </a:prstGeom>
          <a:solidFill>
            <a:srgbClr val="191A1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01952" y="1241227"/>
            <a:ext cx="36534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现有研究不足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01952" y="1571327"/>
            <a:ext cx="3581846" cy="76140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单一球类适配，缺乏通用规则引擎</a:t>
            </a:r>
            <a:endParaRPr lang="en-US" sz="1000" dirty="0"/>
          </a:p>
          <a:p>
            <a:pPr algn="l" marL="101600" indent="-1016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数据孤岛，难以对接教务/报名系统</a:t>
            </a:r>
            <a:endParaRPr lang="en-US" sz="1000" dirty="0"/>
          </a:p>
          <a:p>
            <a:pPr algn="l" marL="101600" indent="-1016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HTTP轮询延迟高，缺乏离线容错</a:t>
            </a:r>
            <a:endParaRPr lang="en-US" sz="1000" dirty="0"/>
          </a:p>
          <a:p>
            <a:pPr algn="l" marL="101600" indent="-1016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商业系统成本门槛高，开源方案功能单一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71351" y="304800"/>
            <a:ext cx="0" cy="428625"/>
          </a:xfrm>
          <a:prstGeom prst="line">
            <a:avLst/>
          </a:prstGeom>
          <a:noFill/>
          <a:ln w="76200">
            <a:solidFill>
              <a:srgbClr val="4E9F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7152" y="304800"/>
            <a:ext cx="80836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研究目标与内容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3251" y="860375"/>
            <a:ext cx="83425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核心定位：低成本 · 跨球类 · 毫秒级 · 可扩展 · 开源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251" y="1187351"/>
            <a:ext cx="2844701" cy="851148"/>
          </a:xfrm>
          <a:prstGeom prst="roundRect">
            <a:avLst>
              <a:gd name="adj" fmla="val 895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33251" y="2019449"/>
            <a:ext cx="2844701" cy="0"/>
          </a:xfrm>
          <a:prstGeom prst="line">
            <a:avLst/>
          </a:prstGeom>
          <a:noFill/>
          <a:ln w="38100">
            <a:solidFill>
              <a:srgbClr val="4E9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651" y="1314301"/>
            <a:ext cx="25906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四球类通用适配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651" y="1565077"/>
            <a:ext cx="2590699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篮球/排球/羽毛球/乒乓球，BGEMM元模型，38种规则秒级切换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9453" y="1187351"/>
            <a:ext cx="2844701" cy="851148"/>
          </a:xfrm>
          <a:prstGeom prst="roundRect">
            <a:avLst>
              <a:gd name="adj" fmla="val 895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479453" y="2019449"/>
            <a:ext cx="2844701" cy="0"/>
          </a:xfrm>
          <a:prstGeom prst="line">
            <a:avLst/>
          </a:prstGeom>
          <a:noFill/>
          <a:ln w="38100">
            <a:solidFill>
              <a:srgbClr val="4E9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1853" y="1314301"/>
            <a:ext cx="25906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毫秒级实时同步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31853" y="1565077"/>
            <a:ext cx="2590699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WebSocket+MQTT双协议，端到端延迟≤200ms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3251" y="2140000"/>
            <a:ext cx="2844701" cy="696962"/>
          </a:xfrm>
          <a:prstGeom prst="roundRect">
            <a:avLst>
              <a:gd name="adj" fmla="val 109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33251" y="2817912"/>
            <a:ext cx="2844701" cy="0"/>
          </a:xfrm>
          <a:prstGeom prst="line">
            <a:avLst/>
          </a:prstGeom>
          <a:noFill/>
          <a:ln w="38100">
            <a:solidFill>
              <a:srgbClr val="4E9F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651" y="2266950"/>
            <a:ext cx="25906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低成本硬件方案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651" y="2517725"/>
            <a:ext cx="2590699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ESP32-S3终端，BOM成本≤317元/套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79453" y="2140000"/>
            <a:ext cx="2844701" cy="696962"/>
          </a:xfrm>
          <a:prstGeom prst="roundRect">
            <a:avLst>
              <a:gd name="adj" fmla="val 109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479453" y="2817912"/>
            <a:ext cx="2844701" cy="0"/>
          </a:xfrm>
          <a:prstGeom prst="line">
            <a:avLst/>
          </a:prstGeom>
          <a:noFill/>
          <a:ln w="38100">
            <a:solidFill>
              <a:srgbClr val="4E9F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31853" y="2266950"/>
            <a:ext cx="25906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数据互通标准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31853" y="2517725"/>
            <a:ext cx="2590699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符合GB/T 34311-2017及CUSU数据标准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3251" y="2938463"/>
            <a:ext cx="2844701" cy="696962"/>
          </a:xfrm>
          <a:prstGeom prst="roundRect">
            <a:avLst>
              <a:gd name="adj" fmla="val 109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33251" y="3616375"/>
            <a:ext cx="2844701" cy="0"/>
          </a:xfrm>
          <a:prstGeom prst="line">
            <a:avLst/>
          </a:prstGeom>
          <a:noFill/>
          <a:ln w="38100">
            <a:solidFill>
              <a:srgbClr val="4E9F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651" y="3065413"/>
            <a:ext cx="25906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开源生态建设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651" y="3316188"/>
            <a:ext cx="2590699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MIT协议开源，提供完整部署文档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33251" y="3736925"/>
            <a:ext cx="1968550" cy="704552"/>
          </a:xfrm>
          <a:prstGeom prst="roundRect">
            <a:avLst>
              <a:gd name="adj" fmla="val 10815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17096" y="3838426"/>
            <a:ext cx="18008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156ms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17096" y="4130427"/>
            <a:ext cx="180085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平均端到端延迟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603302" y="3736925"/>
            <a:ext cx="1968698" cy="704552"/>
          </a:xfrm>
          <a:prstGeom prst="roundRect">
            <a:avLst>
              <a:gd name="adj" fmla="val 10815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687145" y="3838426"/>
            <a:ext cx="18010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2687145" y="4130427"/>
            <a:ext cx="18010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并发客户端连接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73501" y="3736925"/>
            <a:ext cx="1968550" cy="704552"/>
          </a:xfrm>
          <a:prstGeom prst="roundRect">
            <a:avLst>
              <a:gd name="adj" fmla="val 10815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757346" y="3838426"/>
            <a:ext cx="180085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317元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757346" y="4178052"/>
            <a:ext cx="180085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硬件成本/套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743551" y="3736925"/>
            <a:ext cx="1968698" cy="704552"/>
          </a:xfrm>
          <a:prstGeom prst="roundRect">
            <a:avLst>
              <a:gd name="adj" fmla="val 10815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827395" y="3838426"/>
            <a:ext cx="18010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827395" y="4130427"/>
            <a:ext cx="18010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功能测试通过率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96801" y="355550"/>
            <a:ext cx="0" cy="428625"/>
          </a:xfrm>
          <a:prstGeom prst="line">
            <a:avLst/>
          </a:prstGeom>
          <a:noFill/>
          <a:ln w="76200">
            <a:solidFill>
              <a:srgbClr val="4E9F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2602" y="355550"/>
            <a:ext cx="803168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系统总体架构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58701" y="961876"/>
            <a:ext cx="4163318" cy="939552"/>
          </a:xfrm>
          <a:prstGeom prst="roundRect">
            <a:avLst>
              <a:gd name="adj" fmla="val 811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87276" y="961876"/>
            <a:ext cx="0" cy="939552"/>
          </a:xfrm>
          <a:prstGeom prst="line">
            <a:avLst/>
          </a:prstGeom>
          <a:noFill/>
          <a:ln w="57150">
            <a:solidFill>
              <a:srgbClr val="191A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3552" y="1114276"/>
            <a:ext cx="38257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云端服务层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3552" y="1393627"/>
            <a:ext cx="3825782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SpringBoot 3.2 + Vue3 大屏 | InfluxDB时序库 + MySQL | 赛事管理/统计分析/多屏展示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58701" y="2002929"/>
            <a:ext cx="4163318" cy="939552"/>
          </a:xfrm>
          <a:prstGeom prst="roundRect">
            <a:avLst>
              <a:gd name="adj" fmla="val 811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87276" y="2002929"/>
            <a:ext cx="0" cy="939552"/>
          </a:xfrm>
          <a:prstGeom prst="line">
            <a:avLst/>
          </a:prstGeom>
          <a:noFill/>
          <a:ln w="57150">
            <a:solidFill>
              <a:srgbClr val="1E51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3552" y="2155329"/>
            <a:ext cx="38257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边缘网关层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3552" y="2434679"/>
            <a:ext cx="3825782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树莓派4B + Docker | Netty事件总线 | Redis缓存 | WebSocket推送 | MQTT协议转换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8701" y="3043982"/>
            <a:ext cx="4163318" cy="939552"/>
          </a:xfrm>
          <a:prstGeom prst="roundRect">
            <a:avLst>
              <a:gd name="adj" fmla="val 811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87276" y="3043982"/>
            <a:ext cx="0" cy="939552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3552" y="3196382"/>
            <a:ext cx="38257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终端设备层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93552" y="3475732"/>
            <a:ext cx="3825782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ESP32-S3 + 4.3"触摸屏 | Lua规则引擎 | SQLite离线存储 | MQTT上报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25169" y="961876"/>
            <a:ext cx="3761631" cy="3826073"/>
          </a:xfrm>
          <a:prstGeom prst="roundRect">
            <a:avLst>
              <a:gd name="adj" fmla="val 2026"/>
            </a:avLst>
          </a:prstGeom>
          <a:solidFill>
            <a:srgbClr val="191A1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102870" y="1139577"/>
            <a:ext cx="3474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数据流路径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02870" y="1495127"/>
            <a:ext cx="3406229" cy="444252"/>
          </a:xfrm>
          <a:prstGeom prst="roundRect">
            <a:avLst>
              <a:gd name="adj" fmla="val 11435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229820" y="1622078"/>
            <a:ext cx="321537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8F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裁判终端 → MQTT → 边缘网关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02870" y="2040880"/>
            <a:ext cx="3406229" cy="444252"/>
          </a:xfrm>
          <a:prstGeom prst="roundRect">
            <a:avLst>
              <a:gd name="adj" fmla="val 11435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229820" y="2167830"/>
            <a:ext cx="321537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8F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边缘网关 → WebSocket → 大屏客户端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02870" y="2586633"/>
            <a:ext cx="3406229" cy="444252"/>
          </a:xfrm>
          <a:prstGeom prst="roundRect">
            <a:avLst>
              <a:gd name="adj" fmla="val 11435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229820" y="2713583"/>
            <a:ext cx="321537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8F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SQLite本地缓存 → 增量同步 → 云端InfluxDB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02870" y="3132386"/>
            <a:ext cx="3406229" cy="444252"/>
          </a:xfrm>
          <a:prstGeom prst="roundRect">
            <a:avLst>
              <a:gd name="adj" fmla="val 11435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229820" y="3259336"/>
            <a:ext cx="321537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8F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端到端延迟 ≈ 186ms (P95: 186ms)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96801" y="355550"/>
            <a:ext cx="0" cy="428625"/>
          </a:xfrm>
          <a:prstGeom prst="line">
            <a:avLst/>
          </a:prstGeom>
          <a:noFill/>
          <a:ln w="76200">
            <a:solidFill>
              <a:srgbClr val="4E9F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2602" y="355550"/>
            <a:ext cx="803168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 BGEMM 球类通用事件元模型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58701" y="961876"/>
            <a:ext cx="3962400" cy="2284214"/>
          </a:xfrm>
          <a:prstGeom prst="roundRect">
            <a:avLst>
              <a:gd name="adj" fmla="val 3336"/>
            </a:avLst>
          </a:prstGeom>
          <a:solidFill>
            <a:srgbClr val="191A1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6402" y="1139577"/>
            <a:ext cx="3679138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BGEMM</a:t>
            </a:r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E9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6402" y="1380679"/>
            <a:ext cx="3679138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E9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EventType: "得分/犯规/暂停/换人",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6402" y="1621780"/>
            <a:ext cx="3679138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E9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Participant: "主队/客队/球员编号",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6402" y="1862882"/>
            <a:ext cx="3679138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E9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Location: "场地位置(x,y)",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6402" y="2103983"/>
            <a:ext cx="3679138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E9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Timestamp: "UTC时间戳",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6402" y="2345085"/>
            <a:ext cx="3679138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E9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Value: "分值/类型/参数",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6402" y="2586186"/>
            <a:ext cx="3679138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E9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State: "当前比分/节次/回合"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6402" y="2827288"/>
            <a:ext cx="3679138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E9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24251" y="961876"/>
            <a:ext cx="3962549" cy="958453"/>
          </a:xfrm>
          <a:prstGeom prst="roundRect">
            <a:avLst>
              <a:gd name="adj" fmla="val 795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01952" y="1114276"/>
            <a:ext cx="36792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六元组统一抽象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01952" y="1400026"/>
            <a:ext cx="3679290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借鉴IEEE P2414标准，统一篮球、排球、羽毛球、乒乓球的事件特征表达。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24251" y="2047280"/>
            <a:ext cx="3962549" cy="958453"/>
          </a:xfrm>
          <a:prstGeom prst="roundRect">
            <a:avLst>
              <a:gd name="adj" fmla="val 795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01952" y="2199680"/>
            <a:ext cx="36792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Lua脚本热插拔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01952" y="2485430"/>
            <a:ext cx="3679290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规则以Lua脚本存储，5秒内完成加载与验证，支持38种规则配置秒级切换。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24251" y="3132683"/>
            <a:ext cx="3962549" cy="958453"/>
          </a:xfrm>
          <a:prstGeom prst="roundRect">
            <a:avLst>
              <a:gd name="adj" fmla="val 795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01952" y="3285083"/>
            <a:ext cx="36792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跨球类适配示例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01952" y="3570833"/>
            <a:ext cx="3679290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篮球：4节累计计分 | 排球：5局3胜25分 | 羽毛球/乒乓球：局分累计制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96801" y="355550"/>
            <a:ext cx="0" cy="428625"/>
          </a:xfrm>
          <a:prstGeom prst="line">
            <a:avLst/>
          </a:prstGeom>
          <a:noFill/>
          <a:ln w="76200">
            <a:solidFill>
              <a:srgbClr val="4E9F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2602" y="355550"/>
            <a:ext cx="803168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关键技术方案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58701" y="961876"/>
            <a:ext cx="2844701" cy="991791"/>
          </a:xfrm>
          <a:prstGeom prst="roundRect">
            <a:avLst>
              <a:gd name="adj" fmla="val 768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1101" y="1114276"/>
            <a:ext cx="25906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实时通信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1101" y="1400026"/>
            <a:ext cx="2590699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全双工长连接，浏览器大屏实时推送，P95延迟186ms，替代HTTP轮询。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530352" y="961876"/>
            <a:ext cx="2844701" cy="991791"/>
          </a:xfrm>
          <a:prstGeom prst="roundRect">
            <a:avLst>
              <a:gd name="adj" fmla="val 768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682752" y="1114276"/>
            <a:ext cx="25906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+ Redis Pub/Sub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82752" y="1361926"/>
            <a:ext cx="2590699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嵌入式终端MQTT上报，边缘Redis本地分发，QoS保障关键事件可靠传输。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8701" y="2080617"/>
            <a:ext cx="2844701" cy="991791"/>
          </a:xfrm>
          <a:prstGeom prst="roundRect">
            <a:avLst>
              <a:gd name="adj" fmla="val 768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11101" y="2233017"/>
            <a:ext cx="25906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三层离线容错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1101" y="2518767"/>
            <a:ext cx="2590699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终端SQLite → 边缘Redis → 云端InfluxDB，断网续传，数据不丢失。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30352" y="2080617"/>
            <a:ext cx="2844701" cy="991791"/>
          </a:xfrm>
          <a:prstGeom prst="roundRect">
            <a:avLst>
              <a:gd name="adj" fmla="val 768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682752" y="2233017"/>
            <a:ext cx="25906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Netty 事件驱动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82752" y="2518767"/>
            <a:ext cx="2590699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主从Reactor模型，零拷贝优化，500+并发连接CPU占用&lt;35%。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8701" y="3199358"/>
            <a:ext cx="2844701" cy="991791"/>
          </a:xfrm>
          <a:prstGeom prst="roundRect">
            <a:avLst>
              <a:gd name="adj" fmla="val 768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11101" y="3351758"/>
            <a:ext cx="25906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Vue3 + Pinia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1101" y="3599408"/>
            <a:ext cx="2590699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响应式大屏渲染，PWA离线缓存，多终端自适应布局。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30352" y="3199358"/>
            <a:ext cx="2844701" cy="991791"/>
          </a:xfrm>
          <a:prstGeom prst="roundRect">
            <a:avLst>
              <a:gd name="adj" fmla="val 768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682752" y="3351758"/>
            <a:ext cx="25906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混合数据库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82752" y="3637508"/>
            <a:ext cx="2590699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InfluxDB时序事件 + MySQL关系数据 + SQLite离线缓存。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8701" y="4292798"/>
            <a:ext cx="8128099" cy="495151"/>
          </a:xfrm>
          <a:prstGeom prst="roundRect">
            <a:avLst>
              <a:gd name="adj" fmla="val 15389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61851" y="4445198"/>
            <a:ext cx="7876234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技术栈：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SpringBoot 3.2 · Vue 3.4 · SQLite · WebSocket · ESP32-S3 · 树莓派4B · ECharts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45902" y="304800"/>
            <a:ext cx="0" cy="390525"/>
          </a:xfrm>
          <a:prstGeom prst="line">
            <a:avLst/>
          </a:prstGeom>
          <a:noFill/>
          <a:ln w="76200">
            <a:solidFill>
              <a:srgbClr val="4E9F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1702" y="304800"/>
            <a:ext cx="813551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系统实现 — 管理端总览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802" y="2208758"/>
            <a:ext cx="440689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brsms-demo 演示系统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802" y="2557909"/>
            <a:ext cx="4320480" cy="894159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440场比赛 · 40支球队 · 5种球类</a:t>
            </a:r>
            <a:endParaRPr lang="en-US" sz="1100" dirty="0"/>
          </a:p>
          <a:p>
            <a:pPr algn="l" marL="101600" indent="-10160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比赛/球队/球员/技术统计统一管理</a:t>
            </a:r>
            <a:endParaRPr lang="en-US" sz="1100" dirty="0"/>
          </a:p>
          <a:p>
            <a:pPr algn="l" marL="101600" indent="-10160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SpringBoot + Vue3 + SQLite 轻量化部署</a:t>
            </a:r>
            <a:endParaRPr lang="en-US" sz="1100" dirty="0"/>
          </a:p>
          <a:p>
            <a:pPr algn="l" marL="101600" indent="-10160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CSV批量导入，支持本地比赛场景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31432" y="1482626"/>
            <a:ext cx="3706267" cy="2695575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81809" y="3930551"/>
            <a:ext cx="36055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图4-1 管理端系统总览界面</a:t>
            </a:r>
            <a:endParaRPr lang="en-US" sz="900" dirty="0"/>
          </a:p>
        </p:txBody>
      </p:sp>
      <p:pic>
        <p:nvPicPr>
          <p:cNvPr id="9" name="Image 0" descr="/Users/ik/Desktop/01_开发项目/zq/defense-ppt/assets/fig-4-1-manage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7157" y="1568351"/>
            <a:ext cx="3534817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20601" y="279350"/>
            <a:ext cx="0" cy="390525"/>
          </a:xfrm>
          <a:prstGeom prst="line">
            <a:avLst/>
          </a:prstGeom>
          <a:noFill/>
          <a:ln w="76200">
            <a:solidFill>
              <a:srgbClr val="4E9F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6402" y="279350"/>
            <a:ext cx="818713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系统实现 — 比赛管理与成绩录入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82501" y="771376"/>
            <a:ext cx="41453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比赛目录查询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2501" y="1057126"/>
            <a:ext cx="4064050" cy="3594348"/>
          </a:xfrm>
          <a:prstGeom prst="roundRect">
            <a:avLst>
              <a:gd name="adj" fmla="val 212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41860" y="4702225"/>
            <a:ext cx="41453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图4-2 按队伍/场馆检索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98950" y="771376"/>
            <a:ext cx="41453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成绩录入界面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98950" y="1057126"/>
            <a:ext cx="4064050" cy="3594348"/>
          </a:xfrm>
          <a:prstGeom prst="roundRect">
            <a:avLst>
              <a:gd name="adj" fmla="val 212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58310" y="4702225"/>
            <a:ext cx="41453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图4-3 比分与技术统计一体化录入</a:t>
            </a:r>
            <a:endParaRPr lang="en-US" sz="900" dirty="0"/>
          </a:p>
        </p:txBody>
      </p:sp>
      <p:pic>
        <p:nvPicPr>
          <p:cNvPr id="11" name="Image 0" descr="/Users/ik/Desktop/01_开发项目/zq/defense-ppt/assets/fig-4-2-match-direc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427" y="1130052"/>
            <a:ext cx="3918198" cy="1968401"/>
          </a:xfrm>
          <a:prstGeom prst="rect">
            <a:avLst/>
          </a:prstGeom>
        </p:spPr>
      </p:pic>
      <p:pic>
        <p:nvPicPr>
          <p:cNvPr id="12" name="Image 1" descr="/Users/ik/Desktop/01_开发项目/zq/defense-ppt/assets/fig-4-3-match-score-ent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876" y="1130052"/>
            <a:ext cx="3918198" cy="196840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20601" y="279350"/>
            <a:ext cx="0" cy="390525"/>
          </a:xfrm>
          <a:prstGeom prst="line">
            <a:avLst/>
          </a:prstGeom>
          <a:noFill/>
          <a:ln w="76200">
            <a:solidFill>
              <a:srgbClr val="4E9F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6402" y="279350"/>
            <a:ext cx="818713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系统实现 — 球队档案与积分榜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82501" y="771376"/>
            <a:ext cx="41453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球队档案管理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2501" y="1057126"/>
            <a:ext cx="4064050" cy="3594348"/>
          </a:xfrm>
          <a:prstGeom prst="roundRect">
            <a:avLst>
              <a:gd name="adj" fmla="val 212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41860" y="4702225"/>
            <a:ext cx="41453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图4-4 多维度查询与维护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98950" y="771376"/>
            <a:ext cx="41453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积分榜统计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98950" y="1057126"/>
            <a:ext cx="4064050" cy="3594348"/>
          </a:xfrm>
          <a:prstGeom prst="roundRect">
            <a:avLst>
              <a:gd name="adj" fmla="val 212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58310" y="4702225"/>
            <a:ext cx="41453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图4-5 联赛积分榜展示</a:t>
            </a:r>
            <a:endParaRPr lang="en-US" sz="900" dirty="0"/>
          </a:p>
        </p:txBody>
      </p:sp>
      <p:pic>
        <p:nvPicPr>
          <p:cNvPr id="11" name="Image 0" descr="/Users/ik/Desktop/01_开发项目/zq/defense-ppt/assets/fig-4-4-team-archi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427" y="1130052"/>
            <a:ext cx="3918198" cy="1968401"/>
          </a:xfrm>
          <a:prstGeom prst="rect">
            <a:avLst/>
          </a:prstGeom>
        </p:spPr>
      </p:pic>
      <p:pic>
        <p:nvPicPr>
          <p:cNvPr id="12" name="Image 1" descr="/Users/ik/Desktop/01_开发项目/zq/defense-ppt/assets/fig-4-5-standings-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876" y="1130052"/>
            <a:ext cx="3918198" cy="196840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71351" y="330101"/>
            <a:ext cx="0" cy="428625"/>
          </a:xfrm>
          <a:prstGeom prst="line">
            <a:avLst/>
          </a:prstGeom>
          <a:noFill/>
          <a:ln w="76200">
            <a:solidFill>
              <a:srgbClr val="4E9F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7152" y="330101"/>
            <a:ext cx="80836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实验结果与分析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3251" y="911126"/>
            <a:ext cx="1943100" cy="812750"/>
          </a:xfrm>
          <a:prstGeom prst="roundRect">
            <a:avLst>
              <a:gd name="adj" fmla="val 9376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9268" y="1063526"/>
            <a:ext cx="167106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45-110ms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69268" y="1409551"/>
            <a:ext cx="16710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单客户端计分延迟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77852" y="911126"/>
            <a:ext cx="1943249" cy="812750"/>
          </a:xfrm>
          <a:prstGeom prst="roundRect">
            <a:avLst>
              <a:gd name="adj" fmla="val 9376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713867" y="1063526"/>
            <a:ext cx="167121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&lt;100ms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713867" y="1409551"/>
            <a:ext cx="167121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多终端同步时间差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3251" y="1825377"/>
            <a:ext cx="1943100" cy="812750"/>
          </a:xfrm>
          <a:prstGeom prst="roundRect">
            <a:avLst>
              <a:gd name="adj" fmla="val 9376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69268" y="1977777"/>
            <a:ext cx="167106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69268" y="2323802"/>
            <a:ext cx="16710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并发连接稳定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77852" y="1825377"/>
            <a:ext cx="1943249" cy="812750"/>
          </a:xfrm>
          <a:prstGeom prst="roundRect">
            <a:avLst>
              <a:gd name="adj" fmla="val 9376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713867" y="1977777"/>
            <a:ext cx="167121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4.4/5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713867" y="2323802"/>
            <a:ext cx="167121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视觉效果评分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3251" y="2739628"/>
            <a:ext cx="3987850" cy="2073771"/>
          </a:xfrm>
          <a:prstGeom prst="roundRect">
            <a:avLst>
              <a:gd name="adj" fmla="val 367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10952" y="2892028"/>
            <a:ext cx="37050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测试结论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0952" y="3203079"/>
            <a:ext cx="3632448" cy="78700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550"/>
              </a:lnSpc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功能测试覆盖率100%，边界场景正确处理</a:t>
            </a:r>
            <a:endParaRPr lang="en-US" sz="1000" dirty="0"/>
          </a:p>
          <a:p>
            <a:pPr algn="l" marL="101600" indent="-101600">
              <a:lnSpc>
                <a:spcPts val="1550"/>
              </a:lnSpc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5种球类规则完整支持，切换流畅</a:t>
            </a:r>
            <a:endParaRPr lang="en-US" sz="1000" dirty="0"/>
          </a:p>
          <a:p>
            <a:pPr algn="l" marL="101600" indent="-101600">
              <a:lnSpc>
                <a:spcPts val="1550"/>
              </a:lnSpc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500并发下CPU&lt;35%，丢包率为零</a:t>
            </a:r>
            <a:endParaRPr lang="en-US" sz="1000" dirty="0"/>
          </a:p>
          <a:p>
            <a:pPr algn="l" marL="101600" indent="-101600">
              <a:lnSpc>
                <a:spcPts val="1550"/>
              </a:lnSpc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数据集：440场比赛，40支球队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24251" y="911126"/>
            <a:ext cx="40677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端到端延迟分布 (ms)</a:t>
            </a:r>
            <a:endParaRPr lang="en-US" sz="12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724251" y="1196876"/>
          <a:ext cx="4007048" cy="26860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71351" y="330101"/>
            <a:ext cx="0" cy="428625"/>
          </a:xfrm>
          <a:prstGeom prst="line">
            <a:avLst/>
          </a:prstGeom>
          <a:noFill/>
          <a:ln w="76200">
            <a:solidFill>
              <a:srgbClr val="4E9F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7152" y="330101"/>
            <a:ext cx="80836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 对比实验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3251" y="911126"/>
            <a:ext cx="4902398" cy="3902273"/>
          </a:xfrm>
          <a:prstGeom prst="roundRect">
            <a:avLst>
              <a:gd name="adj" fmla="val 195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0202" y="1038076"/>
            <a:ext cx="474146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与人工记录 / STACT 系统对比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13350" y="911126"/>
            <a:ext cx="3098899" cy="971252"/>
          </a:xfrm>
          <a:prstGeom prst="roundRect">
            <a:avLst>
              <a:gd name="adj" fmla="val 7846"/>
            </a:avLst>
          </a:prstGeom>
          <a:solidFill>
            <a:srgbClr val="191A1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765750" y="1063526"/>
            <a:ext cx="28499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人工记录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5750" y="1349276"/>
            <a:ext cx="2849981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按钮操作即时记录，WebSocket多终端同步，消除笔误与延迟风险。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13350" y="2009329"/>
            <a:ext cx="3098899" cy="933152"/>
          </a:xfrm>
          <a:prstGeom prst="roundRect">
            <a:avLst>
              <a:gd name="adj" fmla="val 8166"/>
            </a:avLst>
          </a:prstGeom>
          <a:solidFill>
            <a:srgbClr val="191A1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765750" y="2161729"/>
            <a:ext cx="28499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STACT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65750" y="2409379"/>
            <a:ext cx="2849981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WebSocket替代HTTP轮询，实时性提升10-50倍；支持多球类与深度技术统计。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71351" y="304800"/>
            <a:ext cx="0" cy="428625"/>
          </a:xfrm>
          <a:prstGeom prst="line">
            <a:avLst/>
          </a:prstGeom>
          <a:noFill/>
          <a:ln w="76200">
            <a:solidFill>
              <a:srgbClr val="4E9F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7152" y="304800"/>
            <a:ext cx="80836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主要创新点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3251" y="885825"/>
            <a:ext cx="4165402" cy="854869"/>
          </a:xfrm>
          <a:prstGeom prst="roundRect">
            <a:avLst>
              <a:gd name="adj" fmla="val 891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0952" y="1025426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8158" y="1025426"/>
            <a:ext cx="284937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7253" y="1025426"/>
            <a:ext cx="34717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三层离线容错架构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17253" y="1273076"/>
            <a:ext cx="347177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终端-边缘-云端各层本地持久化与断网续传，弱网环境下数据不丢失、业务不中断。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3251" y="1867644"/>
            <a:ext cx="4165402" cy="854869"/>
          </a:xfrm>
          <a:prstGeom prst="roundRect">
            <a:avLst>
              <a:gd name="adj" fmla="val 891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10952" y="2007245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08158" y="2007245"/>
            <a:ext cx="284937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17253" y="2007245"/>
            <a:ext cx="34717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BGEMM跨球类规则引擎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7253" y="2254895"/>
            <a:ext cx="347177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六元组元模型 + Lua热插拔，38种规则秒级切换，统一抽象多种球类事件。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3251" y="2849463"/>
            <a:ext cx="4165402" cy="854869"/>
          </a:xfrm>
          <a:prstGeom prst="roundRect">
            <a:avLst>
              <a:gd name="adj" fmla="val 891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10952" y="2989064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08158" y="2989064"/>
            <a:ext cx="284937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7253" y="2989064"/>
            <a:ext cx="34717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双协议实时通信总线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7253" y="3236714"/>
            <a:ext cx="347177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WebSocket面向浏览器大屏，MQTT面向嵌入式终端，端到端延迟≤200ms。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3251" y="3831282"/>
            <a:ext cx="4165402" cy="854869"/>
          </a:xfrm>
          <a:prstGeom prst="roundRect">
            <a:avLst>
              <a:gd name="adj" fmla="val 891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10952" y="3970883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08158" y="3970883"/>
            <a:ext cx="284937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17253" y="3970883"/>
            <a:ext cx="34717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开源低成本硬件方案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17253" y="4218533"/>
            <a:ext cx="347177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ESP32-S3终端BOM≤317元，开放硬件设计/固件/部署镜像，降低推广门槛90%+。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96801" y="355550"/>
            <a:ext cx="0" cy="428625"/>
          </a:xfrm>
          <a:prstGeom prst="line">
            <a:avLst/>
          </a:prstGeom>
          <a:noFill/>
          <a:ln w="76200">
            <a:solidFill>
              <a:srgbClr val="4E9F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2602" y="355550"/>
            <a:ext cx="803168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不足与展望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58701" y="961876"/>
            <a:ext cx="3962400" cy="3826073"/>
          </a:xfrm>
          <a:prstGeom prst="roundRect">
            <a:avLst>
              <a:gd name="adj" fmla="val 199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58701" y="980926"/>
            <a:ext cx="3962400" cy="0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1851" y="1203127"/>
            <a:ext cx="362722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现有不足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1851" y="1577727"/>
            <a:ext cx="3556099" cy="964257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比分录入主要依赖人工操作，CV辅助判罚尚未实现</a:t>
            </a:r>
            <a:endParaRPr lang="en-US" sz="1000" dirty="0"/>
          </a:p>
          <a:p>
            <a:pPr algn="l" marL="101600" indent="-1016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云端高级可视化与细粒度权限控制待完善</a:t>
            </a:r>
            <a:endParaRPr lang="en-US" sz="1000" dirty="0"/>
          </a:p>
          <a:p>
            <a:pPr algn="l" marL="101600" indent="-1016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与教务/报名系统深度对接仍需开发</a:t>
            </a:r>
            <a:endParaRPr lang="en-US" sz="1000" dirty="0"/>
          </a:p>
          <a:p>
            <a:pPr algn="l" marL="101600" indent="-1016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移动端原生App交互体验有提升空间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24251" y="961876"/>
            <a:ext cx="3962549" cy="3826073"/>
          </a:xfrm>
          <a:prstGeom prst="roundRect">
            <a:avLst>
              <a:gd name="adj" fmla="val 199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724251" y="980926"/>
            <a:ext cx="3962549" cy="0"/>
          </a:xfrm>
          <a:prstGeom prst="line">
            <a:avLst/>
          </a:prstGeom>
          <a:noFill/>
          <a:ln w="38100">
            <a:solidFill>
              <a:srgbClr val="4E9F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27402" y="1203127"/>
            <a:ext cx="362737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未来展望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27402" y="1577727"/>
            <a:ext cx="3556248" cy="964257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引入YOLOv8，开展出界/触网/落点自动判罚辅助</a:t>
            </a:r>
            <a:endParaRPr lang="en-US" sz="1000" dirty="0"/>
          </a:p>
          <a:p>
            <a:pPr algn="l" marL="101600" indent="-1016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扩展BGEMM支持足球、网球，建设规则脚本共享社区</a:t>
            </a:r>
            <a:endParaRPr lang="en-US" sz="1000" dirty="0"/>
          </a:p>
          <a:p>
            <a:pPr algn="l" marL="101600" indent="-1016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Flutter/RN跨平台移动端，差异化功能服务</a:t>
            </a:r>
            <a:endParaRPr lang="en-US" sz="1000" dirty="0"/>
          </a:p>
          <a:p>
            <a:pPr algn="l" marL="101600" indent="-1016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数字孪生与虚拟场馆，拓展沉浸式赛事传播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5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971800" y="754261"/>
            <a:ext cx="3264408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谢谢各位老师！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886200" y="1595586"/>
            <a:ext cx="13990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0"/>
              </a:spcAft>
              <a:buNone/>
            </a:pPr>
            <a:r>
              <a:rPr lang="en-US" sz="18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敬请批评指正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22306" y="2417862"/>
            <a:ext cx="269923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答辩人：赵庆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22306" y="2767013"/>
            <a:ext cx="269923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指导教师：陈金山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22306" y="3116163"/>
            <a:ext cx="269923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广州城市理工学院 · 通信工程学院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25491" y="3846314"/>
            <a:ext cx="1292870" cy="542925"/>
          </a:xfrm>
          <a:prstGeom prst="roundRect">
            <a:avLst>
              <a:gd name="adj" fmla="val 70175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06491" y="3998714"/>
            <a:ext cx="54148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球类比赛成绩统计与显示管理系统 - 毕业答辩</dc:title>
  <dc:subject>BRSMS 毕业设计答辩</dc:subject>
  <dc:creator>赵庆</dc:creator>
  <cp:lastModifiedBy>赵庆</cp:lastModifiedBy>
  <cp:revision>1</cp:revision>
  <dcterms:created xsi:type="dcterms:W3CDTF">2026-05-20T09:41:28Z</dcterms:created>
  <dcterms:modified xsi:type="dcterms:W3CDTF">2026-05-20T09:41:28Z</dcterms:modified>
</cp:coreProperties>
</file>