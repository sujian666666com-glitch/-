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数据量</c:v>
                </c:pt>
              </c:strCache>
            </c:strRef>
          </c:tx>
          <c:spPr>
            <a:solidFill>
              <a:srgbClr val="1F5C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302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比赛</c:v>
                  </c:pt>
                  <c:pt idx="1">
                    <c:v>球队</c:v>
                  </c:pt>
                  <c:pt idx="2">
                    <c:v>球员</c:v>
                  </c:pt>
                  <c:pt idx="3">
                    <c:v>积分榜</c:v>
                  </c:pt>
                  <c:pt idx="4">
                    <c:v>技术统计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440</c:v>
                </c:pt>
                <c:pt idx="1">
                  <c:v>40</c:v>
                </c:pt>
                <c:pt idx="2">
                  <c:v>540</c:v>
                </c:pt>
                <c:pt idx="3">
                  <c:v>40</c:v>
                </c:pt>
                <c:pt idx="4">
                  <c:v>4230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302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数据类别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记录数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08760" cy="82296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球类比赛成绩统计与显示管理系统设计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中期检查汇报｜赵庆｜人工智能 1 班｜指导教师：陈金山｜2026 年 3 月 18 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086600" cy="2331720"/>
          </a:xfrm>
          <a:prstGeom prst="roundRect">
            <a:avLst>
              <a:gd name="adj" fmla="val 3137"/>
            </a:avLst>
          </a:prstGeom>
          <a:solidFill>
            <a:srgbClr val="16302B"/>
          </a:solidFill>
          <a:ln w="12700">
            <a:solidFill>
              <a:srgbClr val="16302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005840" cy="182880"/>
          </a:xfrm>
          <a:prstGeom prst="rect">
            <a:avLst/>
          </a:prstGeom>
          <a:solidFill>
            <a:srgbClr val="345E55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已完成软件原型与管理查询闭环，当前重点是验证可运行性与后续扩展路径。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本次汇报不将开题中的远期硬件、边缘网关、云端全链路目标视为既完成事实。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01000" y="1874520"/>
            <a:ext cx="3063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1874520"/>
            <a:ext cx="91440" cy="2331720"/>
          </a:xfrm>
          <a:prstGeom prst="rect">
            <a:avLst/>
          </a:prstGeom>
          <a:solidFill>
            <a:srgbClr val="1F5C4E"/>
          </a:solidFill>
          <a:ln w="12700">
            <a:solidFill>
              <a:srgbClr val="1F5C4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19842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本次汇报关注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65592" y="2258568"/>
            <a:ext cx="27706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选题背景与研究目标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当前系统设计与实现进度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阶段性成果与验证结果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存在问题与下一步计划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5001768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项目当前形态：Node.js + Express + SQLite 后端，Vue 3 前端，覆盖实时计分、大屏显示、比赛目录、球队/球员档案、积分榜与技术统计查询。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一、研究背景与中期检查定位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背景来自开题报告；阶段判断来自当前代码、OpenSpec 与运行验证。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91440" cy="2926080"/>
          </a:xfrm>
          <a:prstGeom prst="rect">
            <a:avLst/>
          </a:prstGeom>
          <a:solidFill>
            <a:srgbClr val="1F5C4E"/>
          </a:solidFill>
          <a:ln w="12700">
            <a:solidFill>
              <a:srgbClr val="1F5C4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184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选题背景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1892808"/>
            <a:ext cx="5102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基层和高校赛事仍大量依赖纸质记录、Excel 汇总或单机记分牌，实时性、通用性和数据共享能力不足。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不同球类规则差异明显，现有商业软件成本高、封闭性强，不适合教学与校内赛事推广。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项目希望把“现场计分”和“赛后统计管理”连成一体，形成低成本、可扩展的赛事信息化原型。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6184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中期检查应回答的问题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36792" y="1892808"/>
            <a:ext cx="50566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开题时提出的研究方向是否已转化为清晰、可运行的软件原型。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核心链路是否已打通：实时计分、数据存储、历史查询、统计展示。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哪些能力已完成，哪些仍处于后续计划，边界是否清晰。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8EF"/>
          </a:solidFill>
          <a:ln w="12700">
            <a:solidFill>
              <a:srgbClr val="FFF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093208"/>
            <a:ext cx="10680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本阶段结论：已完成“成绩统计与管理”方向的软件 MVP，证明从单场比赛计分 demo 向“可查询、可浏览、可统计”的管理系统扩展是可行的；但硬件终端、边缘网关、云端对接等开题远期目标尚未进入最终完成态。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二、开题目标与本阶段聚焦范围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对照开题报告中的总体目标，明确中期阶段的实际落点。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184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开题报告总体目标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892808"/>
            <a:ext cx="505663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构建低成本、跨球类、毫秒级、可扩展、开源的赛事成绩统计与显示管理系统。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支持篮球、排球、羽毛球、乒乓球等多球类规则切换。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形成端-边-云一体化的数据采集、展示与对接能力。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兼顾现场实时显示、历史统计管理和标准化数据输出。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508760"/>
            <a:ext cx="91440" cy="3246120"/>
          </a:xfrm>
          <a:prstGeom prst="rect">
            <a:avLst/>
          </a:prstGeom>
          <a:solidFill>
            <a:srgbClr val="1F5C4E"/>
          </a:solidFill>
          <a:ln w="12700">
            <a:solidFill>
              <a:srgbClr val="1F5C4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6184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中期已聚焦并实现的部分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36792" y="1892808"/>
            <a:ext cx="505663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保留单场比赛实时计分与大屏展示链路。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补齐历史比赛、球队、球员、积分榜和技术统计的统一查询能力。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实现管理端页面，支持按“图书馆管理”式方式浏览与检索数据。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建立 SQLite 主读、CSV 回退的数据访问策略。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413248"/>
            <a:ext cx="10680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范围说明：中期汇报重点展示“软件架构和功能闭环已经成立”，而不是宣称已经完成硬件 BOM、边缘网关部署、国标 XML 对接和大规模压测。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三、当前系统设计与实现架构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架构已从“单场实时计分 demo”扩展为“实时链路 + 管理查询”的双路径结构。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64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前端层（Vue 3）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3364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现有流程：SetupView、ControlView、ScoreboardView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新增管理入口：ManagementHome、Matches、MatchDetail、Teams、Statistics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实时状态由 WebSocket 驱动，统计查询走独立页面与接口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07408" y="155448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64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服务层（Express）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938528"/>
            <a:ext cx="33649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保留 /api/matches/:id/score、/undo、/quarter 等实时写入接口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新增 /api/manage/* 查询接口，分离读写职责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通过 dataRepository.js 聚合统一数据访问逻辑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66176" y="1554480"/>
            <a:ext cx="325526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66420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数据层（SQLite + CSV）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30768" y="1938528"/>
            <a:ext cx="29626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brsms.db 作为主查询数据源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CSV 作为缺失数据时的回退与补充来源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对比赛、球队、球员、积分榜、统计字段做归一化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709160"/>
            <a:ext cx="91440" cy="1051560"/>
          </a:xfrm>
          <a:prstGeom prst="rect">
            <a:avLst/>
          </a:prstGeom>
          <a:solidFill>
            <a:srgbClr val="1F5C4E"/>
          </a:solidFill>
          <a:ln w="12700">
            <a:solidFill>
              <a:srgbClr val="1F5C4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81888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核心设计取舍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5093208"/>
            <a:ext cx="10680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不中断原有实时计分演示链路；不一次性重构成复杂 MVC；先把管理查询能力做成稳定的增量层，再为后续论文实现和功能扩展提供基础。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四、已完成的核心功能模块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当前实现覆盖“实时计分”“管理查询”“统计展示”三类能力。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6576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91440" cy="3154680"/>
          </a:xfrm>
          <a:prstGeom prst="rect">
            <a:avLst/>
          </a:prstGeom>
          <a:solidFill>
            <a:srgbClr val="1F5C4E"/>
          </a:solidFill>
          <a:ln w="12700">
            <a:solidFill>
              <a:srgbClr val="1F5C4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64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实时计分链路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1938528"/>
            <a:ext cx="33649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创建比赛、主客队选择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比分增加、撤销、节次切换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WebSocket 实时推送到大屏页面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原有 /、/control/:matchId、/scoreboard/:matchId 路径保持可用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407408" y="1554480"/>
            <a:ext cx="36576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64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管理查询能力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938528"/>
            <a:ext cx="33649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比赛列表与比赛详情查看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球队档案、球员档案基础查询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数据源最小字段校验与无效记录过滤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统一字段命名，降低前端按来源分支处理的复杂度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66176" y="1554480"/>
            <a:ext cx="3255264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66420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统计展示能力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30768" y="1938528"/>
            <a:ext cx="296265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积分榜展示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比赛技术统计查看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管理型统计页面与实时大屏展示分离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形成“列表 + 详情 + 统计页”的信息架构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8EF"/>
          </a:solidFill>
          <a:ln w="12700">
            <a:solidFill>
              <a:srgbClr val="FFF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367528"/>
            <a:ext cx="10680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 任务完成情况：数据源接入 3/3、管理查询接口 3/3、前端管理页面 4/4、联调与验收 3/3，共 13 个子项已完成。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五、阶段性成果与运行数据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以下数据来自 2026 年 3 月 18 日本地运行接口 GET /api/manage/metadata 的实际返回。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33472" cy="1170432"/>
          </a:xfrm>
          <a:prstGeom prst="roundRect">
            <a:avLst>
              <a:gd name="adj" fmla="val 6250"/>
            </a:avLst>
          </a:prstGeom>
          <a:solidFill>
            <a:srgbClr val="16302B"/>
          </a:solidFill>
          <a:ln w="12700">
            <a:solidFill>
              <a:srgbClr val="1630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6420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比赛记录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1901952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3232" y="2340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D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支持列表浏览、详情查看与结果检索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337560" y="1554480"/>
            <a:ext cx="2633472" cy="1170432"/>
          </a:xfrm>
          <a:prstGeom prst="roundRect">
            <a:avLst>
              <a:gd name="adj" fmla="val 6250"/>
            </a:avLst>
          </a:prstGeom>
          <a:solidFill>
            <a:srgbClr val="274B44"/>
          </a:solidFill>
          <a:ln w="12700">
            <a:solidFill>
              <a:srgbClr val="274B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66420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球队档案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02152" y="1901952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02152" y="2340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D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覆盖不同球类的队伍实体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633472" cy="1170432"/>
          </a:xfrm>
          <a:prstGeom prst="roundRect">
            <a:avLst>
              <a:gd name="adj" fmla="val 6250"/>
            </a:avLst>
          </a:prstGeom>
          <a:solidFill>
            <a:srgbClr val="345E55"/>
          </a:solidFill>
          <a:ln w="12700">
            <a:solidFill>
              <a:srgbClr val="345E5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66420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球员档案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1901952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91072" y="2340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D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支持按队伍与条件筛选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915400" y="1554480"/>
            <a:ext cx="2633472" cy="1170432"/>
          </a:xfrm>
          <a:prstGeom prst="roundRect">
            <a:avLst>
              <a:gd name="adj" fmla="val 6250"/>
            </a:avLst>
          </a:prstGeom>
          <a:solidFill>
            <a:srgbClr val="3F7064"/>
          </a:solidFill>
          <a:ln w="12700">
            <a:solidFill>
              <a:srgbClr val="3F706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9992" y="166420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技术统计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79992" y="1901952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4230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79992" y="2340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D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作为比赛详情与统计页的数据基础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8640" y="2971800"/>
            <a:ext cx="3063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08152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前后端入口已形成闭环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" y="3355848"/>
            <a:ext cx="27706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前端路由共 8 个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管理查询接口共 6 组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实时接口与管理接口已分层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支持篮球、足球、排球、乒乓球、羽毛球等数据展示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840480" y="2971800"/>
            <a:ext cx="76809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05072" y="3081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管理数据规模分布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05072" y="3355848"/>
            <a:ext cx="73883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8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4069080" y="3474720"/>
          <a:ext cx="704088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4069080" y="5440680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说明：柱状图反映当前可用于管理端展示的数据规模，证明系统已不是仅能处理单场比赛的 demo。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六、系统页面与测试截图展示（一）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补充实际页面截图，证明当前系统已经具备可演示的交互界面。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00200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比赛创建入口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1801368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创建比赛并进入实时计分流程</a:t>
            </a:r>
            <a:endParaRPr lang="en-US" sz="880" dirty="0"/>
          </a:p>
        </p:txBody>
      </p:sp>
      <p:pic>
        <p:nvPicPr>
          <p:cNvPr id="11" name="Image 0" descr="/Users/ik/Desktop/01_开发项目/zq/docs/ppt/midterm_check/image/微信图片_20260318120215_869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39112"/>
            <a:ext cx="3438144" cy="1417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07408" y="1508760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17136" y="1600200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管理端总览页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17136" y="1801368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显示管理端数据概览与功能导航</a:t>
            </a:r>
            <a:endParaRPr lang="en-US" sz="880" dirty="0"/>
          </a:p>
        </p:txBody>
      </p:sp>
      <p:pic>
        <p:nvPicPr>
          <p:cNvPr id="15" name="Image 1" descr="/Users/ik/Desktop/01_开发项目/zq/docs/ppt/midterm_check/image/微信图片_20260318120234_870_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039112"/>
            <a:ext cx="3438144" cy="1417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266176" y="1508760"/>
            <a:ext cx="3255264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75904" y="1600200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比赛管理列表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375904" y="180136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可查看比赛记录并进入详情</a:t>
            </a:r>
            <a:endParaRPr lang="en-US" sz="880" dirty="0"/>
          </a:p>
        </p:txBody>
      </p:sp>
      <p:pic>
        <p:nvPicPr>
          <p:cNvPr id="19" name="Image 2" descr="/Users/ik/Desktop/01_开发项目/zq/docs/ppt/midterm_check/image/微信图片_20260318120248_871_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039112"/>
            <a:ext cx="3035808" cy="14173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48640" y="3840480"/>
            <a:ext cx="10972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3840480"/>
            <a:ext cx="91440" cy="1691640"/>
          </a:xfrm>
          <a:prstGeom prst="rect">
            <a:avLst/>
          </a:prstGeom>
          <a:solidFill>
            <a:srgbClr val="1F5C4E"/>
          </a:solidFill>
          <a:ln w="12700">
            <a:solidFill>
              <a:srgbClr val="1F5C4E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13232" y="395020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页面说明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13232" y="4224528"/>
            <a:ext cx="10680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这三张图对应了当前原型中最关键的入口链路：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从比赛创建页进入实时计分；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从管理端总览页进入统计与查询；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在比赛管理列表中浏览历史记录并查看详情。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七、系统页面与测试截图展示（二）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继续补充管理查询与统计展示页面，增强中期检查的可视化证明。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00200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球队 / 球员管理页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1801368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支持球队档案与球员基础信息查询</a:t>
            </a:r>
            <a:endParaRPr lang="en-US" sz="880" dirty="0"/>
          </a:p>
        </p:txBody>
      </p:sp>
      <p:pic>
        <p:nvPicPr>
          <p:cNvPr id="11" name="Image 0" descr="/Users/ik/Desktop/01_开发项目/zq/docs/ppt/midterm_check/image/微信图片_20260318120300_872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39112"/>
            <a:ext cx="5266944" cy="16916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5087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1600200"/>
            <a:ext cx="5038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积分榜与技术统计页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373368" y="1801368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展示统计结果与关键指标</a:t>
            </a:r>
            <a:endParaRPr lang="en-US" sz="880" dirty="0"/>
          </a:p>
        </p:txBody>
      </p:sp>
      <p:pic>
        <p:nvPicPr>
          <p:cNvPr id="15" name="Image 1" descr="/Users/ik/Desktop/01_开发项目/zq/docs/ppt/midterm_check/image/微信图片_20260318120334_873_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039112"/>
            <a:ext cx="5038344" cy="16916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411480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3232" y="422452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截图价值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13232" y="4498848"/>
            <a:ext cx="10680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截图与前面的接口数据、路由结构相互印证：系统不仅已经完成后端数据组织，也已经把主要管理功能落到了可操作的前端页面上。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八、开发进度与验证情况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中期检查不仅看页面数量，更看代码是否可运行、接口是否有真实数据响应。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6420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已完成验证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51937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前端构建：2026-03-18 执行 npm run build 成功，生成 dist 产物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后端检查：执行 node --check index.js 与 node --check dataRepository.js 通过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接口联调：管理端 metadata、matches、standings 接口可返回真实结构化数据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兼容性：实时计分链路与新增管理链路并存，没有被新增功能替换掉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554480"/>
            <a:ext cx="91440" cy="3246120"/>
          </a:xfrm>
          <a:prstGeom prst="rect">
            <a:avLst/>
          </a:prstGeom>
          <a:solidFill>
            <a:srgbClr val="1F5C4E"/>
          </a:solidFill>
          <a:ln w="12700">
            <a:solidFill>
              <a:srgbClr val="1F5C4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66420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 验收对应关系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1938528"/>
            <a:ext cx="49651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数据源接入：SQLite 主读 + CSV 回退已实现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管理查询接口：比赛、球队、球员、积分榜、统计接口已落地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前端管理页面：管理首页、比赛、详情、球队/球员、统计页已接入路由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联调验收：字段对齐、说明文档、回归验证已补齐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18464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阶段判断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545896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当前系统已达到“中期可演示、可验证、可继续扩展”的状态，能够支撑论文中关于软件原型、数据组织和管理端交互的中期汇报要求。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九、当前存在的问题与风险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中期阶段已形成原型，但距离完整论文目标仍有明显差距。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6420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已识别问题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51937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当前数据库主表仍偏轻量，部分管理数据需要依赖 CSV 回退，后续需进一步稳定数据结构。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系统暂以只读查询与展示为主，尚未进入复杂的数据编辑、导出和权限控制场景。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列表页当前以基础筛选为主，若数据量继续增长，仍需补充分页、性能优化和更细粒度检索。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554480"/>
            <a:ext cx="91440" cy="3246120"/>
          </a:xfrm>
          <a:prstGeom prst="rect">
            <a:avLst/>
          </a:prstGeom>
          <a:solidFill>
            <a:srgbClr val="1F5C4E"/>
          </a:solidFill>
          <a:ln w="12700">
            <a:solidFill>
              <a:srgbClr val="1F5C4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66420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与开题远期目标的差距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1938528"/>
            <a:ext cx="49651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硬件终端、边缘网关、云端服务协同尚未完整落地。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国标/XML 对接、外部系统集成和大规模压测尚未展开。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多角色权限、复杂规则引擎和标准化导出能力仍处于后续研究与实现阶段。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FF8EF"/>
          </a:solidFill>
          <a:ln w="12700">
            <a:solidFill>
              <a:srgbClr val="FFF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458968"/>
            <a:ext cx="10680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风险控制思路：继续坚持“小步迭代、先软件闭环、再扩展外围能力”的方式推进，避免一次性大重构影响已完成的实时演示链路。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十、下一步工作计划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后续工作将围绕“完善软件能力、补足论文支撑材料、准备结题验证”展开。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45920"/>
            <a:ext cx="265176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739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011680"/>
            <a:ext cx="245059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继续完善数据层，增强字段映射、筛选能力和查询稳定性。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64592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645920"/>
            <a:ext cx="265176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17739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38728" y="2011680"/>
            <a:ext cx="245059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补充论文需要的系统设计、接口说明、关键页面与实验记录材料。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645920"/>
            <a:ext cx="265176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7739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19088" y="2011680"/>
            <a:ext cx="245059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根据精力与范围，择优推进导出、可视化增强或更多规则扩展示例。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89720" y="164592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645920"/>
            <a:ext cx="233172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9448" y="1773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阶段四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99448" y="2011680"/>
            <a:ext cx="21305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开展更系统的测试与总结，为后期答辩和论文定稿准备结果依据。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10972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4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429000"/>
            <a:ext cx="91440" cy="1874520"/>
          </a:xfrm>
          <a:prstGeom prst="rect">
            <a:avLst/>
          </a:prstGeom>
          <a:solidFill>
            <a:srgbClr val="1F5C4E"/>
          </a:solidFill>
          <a:ln w="12700">
            <a:solidFill>
              <a:srgbClr val="1F5C4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53872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预期输出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" y="3813048"/>
            <a:ext cx="10680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更稳定的管理端数据访问与页面展示效果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更完整的测试记录、开发文档和论文材料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围绕“中期原型 → 结题成果”的清晰演进路径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71600" cy="73152"/>
          </a:xfrm>
          <a:prstGeom prst="rect">
            <a:avLst/>
          </a:prstGeom>
          <a:solidFill>
            <a:srgbClr val="C7772D"/>
          </a:solidFill>
          <a:ln w="12700">
            <a:solidFill>
              <a:srgbClr val="C777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汇报总结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当前已完成中期应有的软件原型与验证闭环，后续重点是做深、做稳、补齐论文支撑材料。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8D4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广州城市理工学院｜本科毕业设计中期检查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10789920" cy="2651760"/>
          </a:xfrm>
          <a:prstGeom prst="roundRect">
            <a:avLst>
              <a:gd name="adj" fmla="val 2759"/>
            </a:avLst>
          </a:prstGeom>
          <a:solidFill>
            <a:srgbClr val="16302B"/>
          </a:solidFill>
          <a:ln w="12700">
            <a:solidFill>
              <a:srgbClr val="16302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920240"/>
            <a:ext cx="914400" cy="201168"/>
          </a:xfrm>
          <a:prstGeom prst="rect">
            <a:avLst/>
          </a:prstGeom>
          <a:solidFill>
            <a:srgbClr val="345E55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中期结论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已从“单场计分演示”推进到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“可查询、可管理、可统计”的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软件系统原型。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后续将继续围绕数据稳定性、测试材料与论文成果表达展开完善。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470916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5093208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谢谢老师指导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球类比赛成绩统计与显示管理系统设计_中期检查汇报</dc:title>
  <dc:subject>球类比赛成绩统计与显示管理系统设计中期检查汇报</dc:subject>
  <dc:creator>Codex</dc:creator>
  <cp:lastModifiedBy>Codex</cp:lastModifiedBy>
  <cp:revision>1</cp:revision>
  <dcterms:created xsi:type="dcterms:W3CDTF">2026-03-18T04:38:56Z</dcterms:created>
  <dcterms:modified xsi:type="dcterms:W3CDTF">2026-03-18T04:38:56Z</dcterms:modified>
</cp:coreProperties>
</file>